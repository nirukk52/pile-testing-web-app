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9" r:id="rId3"/>
    <p:sldId id="258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95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39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78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232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90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69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585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68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47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71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916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3083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507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437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119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538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7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480C8BA-D27B-4FD6-8180-3A0D62B2EB7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9E55FEF-2207-49DE-AB95-80E7C6C78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813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2389300"/>
            <a:ext cx="9440034" cy="1828801"/>
          </a:xfrm>
        </p:spPr>
        <p:txBody>
          <a:bodyPr>
            <a:normAutofit/>
          </a:bodyPr>
          <a:lstStyle/>
          <a:p>
            <a:r>
              <a:rPr lang="en-US" dirty="0"/>
              <a:t>Vertical </a:t>
            </a:r>
            <a:r>
              <a:rPr lang="en-US" dirty="0" smtClean="0"/>
              <a:t>Pile </a:t>
            </a:r>
            <a:r>
              <a:rPr lang="en-US" dirty="0"/>
              <a:t>Load Test </a:t>
            </a:r>
            <a:r>
              <a:rPr lang="en-US" dirty="0" smtClean="0"/>
              <a:t>using </a:t>
            </a:r>
            <a:r>
              <a:rPr lang="en-US" dirty="0"/>
              <a:t>Reaction Anchors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4522899"/>
            <a:ext cx="9440034" cy="1049867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Client – APCO </a:t>
            </a:r>
            <a:r>
              <a:rPr lang="en-US" sz="3200" dirty="0" err="1" smtClean="0"/>
              <a:t>Infratech</a:t>
            </a:r>
            <a:r>
              <a:rPr lang="en-US" sz="3200" dirty="0" smtClean="0"/>
              <a:t> </a:t>
            </a:r>
            <a:r>
              <a:rPr lang="en-US" sz="3200" dirty="0" err="1" smtClean="0"/>
              <a:t>Pvt</a:t>
            </a:r>
            <a:r>
              <a:rPr lang="en-US" sz="3200" dirty="0" smtClean="0"/>
              <a:t> Ltd.</a:t>
            </a:r>
            <a:endParaRPr lang="en-IN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51" b="34622"/>
          <a:stretch/>
        </p:blipFill>
        <p:spPr>
          <a:xfrm>
            <a:off x="4645450" y="345440"/>
            <a:ext cx="2890520" cy="154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5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755" y="188351"/>
            <a:ext cx="10353762" cy="970450"/>
          </a:xfrm>
        </p:spPr>
        <p:txBody>
          <a:bodyPr/>
          <a:lstStyle/>
          <a:p>
            <a:r>
              <a:rPr lang="en-US" dirty="0" smtClean="0"/>
              <a:t>Why Vertical Pile Load Test Important?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555" y="1270001"/>
            <a:ext cx="10353762" cy="4058751"/>
          </a:xfrm>
        </p:spPr>
        <p:txBody>
          <a:bodyPr/>
          <a:lstStyle/>
          <a:p>
            <a:r>
              <a:rPr lang="en-US" dirty="0" smtClean="0"/>
              <a:t>Vertical Pile Load Test </a:t>
            </a:r>
            <a:r>
              <a:rPr lang="en-US" dirty="0"/>
              <a:t>is a </a:t>
            </a:r>
            <a:r>
              <a:rPr lang="en-US" b="1" dirty="0"/>
              <a:t>critical verification</a:t>
            </a:r>
            <a:r>
              <a:rPr lang="en-US" dirty="0"/>
              <a:t> step for deep foundations. - Confirmation of </a:t>
            </a:r>
            <a:r>
              <a:rPr lang="en-US" b="1" dirty="0"/>
              <a:t>design assumptions</a:t>
            </a:r>
            <a:r>
              <a:rPr lang="en-US" dirty="0"/>
              <a:t> (bearing capacity and settlement</a:t>
            </a:r>
            <a:r>
              <a:rPr lang="en-US" dirty="0" smtClean="0"/>
              <a:t>).</a:t>
            </a:r>
          </a:p>
          <a:p>
            <a:r>
              <a:rPr lang="en-US" b="1" dirty="0"/>
              <a:t>Risk mitigation</a:t>
            </a:r>
            <a:r>
              <a:rPr lang="en-US" dirty="0"/>
              <a:t> and ensuring regulatory </a:t>
            </a:r>
            <a:r>
              <a:rPr lang="en-US" dirty="0" smtClean="0"/>
              <a:t>compliance.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151"/>
            <a:ext cx="2234825" cy="1192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773" y="2731050"/>
            <a:ext cx="2794605" cy="32450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2596" y="2731050"/>
            <a:ext cx="4061506" cy="32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3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411" y="188351"/>
            <a:ext cx="10353762" cy="970450"/>
          </a:xfrm>
        </p:spPr>
        <p:txBody>
          <a:bodyPr/>
          <a:lstStyle/>
          <a:p>
            <a:r>
              <a:rPr lang="en-US" dirty="0" smtClean="0"/>
              <a:t>Equipment </a:t>
            </a:r>
            <a:r>
              <a:rPr lang="en-US" dirty="0" smtClean="0"/>
              <a:t>required to conduct VPLT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035" y="1270001"/>
            <a:ext cx="10353762" cy="4058751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DTH/Rotary drilling rigs </a:t>
            </a:r>
            <a:r>
              <a:rPr lang="en-US" sz="2400" dirty="0" smtClean="0"/>
              <a:t>- For drilling holes of suitable diameter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Hydraulic </a:t>
            </a:r>
            <a:r>
              <a:rPr lang="en-US" sz="2400" b="1" dirty="0" smtClean="0"/>
              <a:t>Jack/s – </a:t>
            </a:r>
            <a:r>
              <a:rPr lang="en-US" sz="2400" dirty="0" smtClean="0"/>
              <a:t>As per test load.</a:t>
            </a:r>
          </a:p>
          <a:p>
            <a:r>
              <a:rPr lang="en-US" sz="2400" b="1" dirty="0" smtClean="0"/>
              <a:t>Testing Frame </a:t>
            </a:r>
            <a:endParaRPr lang="en-US" sz="2400" b="1" dirty="0" smtClean="0"/>
          </a:p>
          <a:p>
            <a:r>
              <a:rPr lang="en-US" sz="2400" b="1" dirty="0" smtClean="0"/>
              <a:t>Hydraulic </a:t>
            </a:r>
            <a:r>
              <a:rPr lang="en-US" sz="2400" b="1" dirty="0" err="1" smtClean="0"/>
              <a:t>PowerPack</a:t>
            </a:r>
            <a:endParaRPr lang="en-IN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151"/>
            <a:ext cx="2234825" cy="1192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1814"/>
          <a:stretch/>
        </p:blipFill>
        <p:spPr>
          <a:xfrm>
            <a:off x="137061" y="3708400"/>
            <a:ext cx="3268269" cy="28132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1392"/>
          <a:stretch/>
        </p:blipFill>
        <p:spPr>
          <a:xfrm>
            <a:off x="3492698" y="3708400"/>
            <a:ext cx="2960947" cy="28132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l="4248" r="5758"/>
          <a:stretch/>
        </p:blipFill>
        <p:spPr>
          <a:xfrm>
            <a:off x="6541013" y="3705776"/>
            <a:ext cx="3062649" cy="28158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1030" y="3705776"/>
            <a:ext cx="2389210" cy="28158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98583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395" y="188351"/>
            <a:ext cx="10353762" cy="970450"/>
          </a:xfrm>
        </p:spPr>
        <p:txBody>
          <a:bodyPr/>
          <a:lstStyle/>
          <a:p>
            <a:r>
              <a:rPr lang="en-US" dirty="0">
                <a:effectLst/>
              </a:rPr>
              <a:t>Preparation &amp; Initial Setup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395" y="1381201"/>
            <a:ext cx="7366605" cy="5212639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effectLst/>
              </a:rPr>
              <a:t>Goal:</a:t>
            </a:r>
            <a:r>
              <a:rPr lang="en-IN" dirty="0">
                <a:effectLst/>
              </a:rPr>
              <a:t> Establish the test site and confirm readiness as per IS 2911 (Part 4).</a:t>
            </a:r>
          </a:p>
          <a:p>
            <a:pPr lvl="0"/>
            <a:r>
              <a:rPr lang="en-IN" b="1" dirty="0">
                <a:effectLst/>
              </a:rPr>
              <a:t>Pile Head Preparation: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Chip the test pile head down to sound concrete and trim to a smooth, horizontal plane, normal to the pile axis.</a:t>
            </a:r>
          </a:p>
          <a:p>
            <a:pPr lvl="1"/>
            <a:r>
              <a:rPr lang="en-IN" dirty="0">
                <a:effectLst/>
              </a:rPr>
              <a:t>Place a steel </a:t>
            </a:r>
            <a:r>
              <a:rPr lang="en-IN" b="1" dirty="0">
                <a:effectLst/>
              </a:rPr>
              <a:t>bearing plate</a:t>
            </a:r>
            <a:r>
              <a:rPr lang="en-IN" dirty="0">
                <a:effectLst/>
              </a:rPr>
              <a:t> centrally on the pile head for the hydraulic jack to rest.</a:t>
            </a:r>
          </a:p>
          <a:p>
            <a:pPr lvl="0"/>
            <a:r>
              <a:rPr lang="en-IN" b="1" dirty="0">
                <a:effectLst/>
              </a:rPr>
              <a:t>Reaction Anchor Installation (The Reaction System):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Drill anchor boreholes into competent strata at the code-specified </a:t>
            </a:r>
            <a:r>
              <a:rPr lang="en-IN" dirty="0" smtClean="0">
                <a:effectLst/>
              </a:rPr>
              <a:t>distance.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Install the assembled HT strand </a:t>
            </a:r>
            <a:r>
              <a:rPr lang="en-IN" dirty="0" smtClean="0">
                <a:effectLst/>
              </a:rPr>
              <a:t>tendons.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Grout the </a:t>
            </a:r>
            <a:r>
              <a:rPr lang="en-IN" b="1" dirty="0">
                <a:effectLst/>
              </a:rPr>
              <a:t>Fixed Length</a:t>
            </a:r>
            <a:r>
              <a:rPr lang="en-IN" dirty="0">
                <a:effectLst/>
              </a:rPr>
              <a:t> and ensure full </a:t>
            </a:r>
            <a:r>
              <a:rPr lang="en-IN" dirty="0" smtClean="0">
                <a:effectLst/>
              </a:rPr>
              <a:t>curing.</a:t>
            </a:r>
          </a:p>
          <a:p>
            <a:pPr lvl="0"/>
            <a:r>
              <a:rPr lang="en-IN" b="1" dirty="0" smtClean="0">
                <a:effectLst/>
              </a:rPr>
              <a:t>Frame Assembly:</a:t>
            </a:r>
            <a:endParaRPr lang="en-IN" dirty="0" smtClean="0">
              <a:effectLst/>
            </a:endParaRPr>
          </a:p>
          <a:p>
            <a:pPr lvl="1"/>
            <a:r>
              <a:rPr lang="en-US" dirty="0" smtClean="0">
                <a:effectLst/>
              </a:rPr>
              <a:t>Erect </a:t>
            </a:r>
            <a:r>
              <a:rPr lang="en-US" dirty="0">
                <a:effectLst/>
              </a:rPr>
              <a:t>the </a:t>
            </a:r>
            <a:r>
              <a:rPr lang="en-US" b="1" dirty="0">
                <a:effectLst/>
              </a:rPr>
              <a:t>reaction crown/girder system</a:t>
            </a:r>
            <a:r>
              <a:rPr lang="en-US" dirty="0">
                <a:effectLst/>
              </a:rPr>
              <a:t> </a:t>
            </a:r>
            <a:r>
              <a:rPr lang="en-US" dirty="0" smtClean="0">
                <a:effectLst/>
              </a:rPr>
              <a:t>over </a:t>
            </a:r>
            <a:r>
              <a:rPr lang="en-US" dirty="0">
                <a:effectLst/>
              </a:rPr>
              <a:t>the </a:t>
            </a:r>
            <a:r>
              <a:rPr lang="en-US" dirty="0" smtClean="0">
                <a:effectLst/>
              </a:rPr>
              <a:t>hydraulic jack/s placed on pile </a:t>
            </a:r>
            <a:r>
              <a:rPr lang="en-US" dirty="0">
                <a:effectLst/>
              </a:rPr>
              <a:t>head, connecting it securely to the anchor </a:t>
            </a:r>
            <a:r>
              <a:rPr lang="en-US" dirty="0" smtClean="0">
                <a:effectLst/>
              </a:rPr>
              <a:t>heads.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3159"/>
          <a:stretch/>
        </p:blipFill>
        <p:spPr>
          <a:xfrm>
            <a:off x="8128000" y="1158801"/>
            <a:ext cx="3225966" cy="22447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151"/>
            <a:ext cx="2234825" cy="1192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524389"/>
            <a:ext cx="3225966" cy="29486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1070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88351"/>
            <a:ext cx="10353762" cy="970450"/>
          </a:xfrm>
        </p:spPr>
        <p:txBody>
          <a:bodyPr/>
          <a:lstStyle/>
          <a:p>
            <a:r>
              <a:rPr lang="en-US" dirty="0">
                <a:effectLst/>
              </a:rPr>
              <a:t>Instrumentation &amp; Anchor Loading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270001"/>
            <a:ext cx="7468205" cy="5587999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effectLst/>
              </a:rPr>
              <a:t>Goal:</a:t>
            </a:r>
            <a:r>
              <a:rPr lang="en-IN" dirty="0">
                <a:effectLst/>
              </a:rPr>
              <a:t> Detail the precise measurement system and the critical pre-loading of the anchor system.</a:t>
            </a:r>
          </a:p>
          <a:p>
            <a:pPr lvl="0"/>
            <a:r>
              <a:rPr lang="en-IN" b="1" dirty="0">
                <a:effectLst/>
              </a:rPr>
              <a:t>Instrumentation Setup: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Position a </a:t>
            </a:r>
            <a:r>
              <a:rPr lang="en-IN" b="1" dirty="0" smtClean="0">
                <a:effectLst/>
              </a:rPr>
              <a:t>tested </a:t>
            </a:r>
            <a:r>
              <a:rPr lang="en-IN" b="1" dirty="0">
                <a:effectLst/>
              </a:rPr>
              <a:t>hydraulic </a:t>
            </a:r>
            <a:r>
              <a:rPr lang="en-IN" b="1" dirty="0" smtClean="0">
                <a:effectLst/>
              </a:rPr>
              <a:t>jack</a:t>
            </a:r>
            <a:r>
              <a:rPr lang="en-IN" dirty="0" smtClean="0">
                <a:effectLst/>
              </a:rPr>
              <a:t> </a:t>
            </a:r>
            <a:r>
              <a:rPr lang="en-IN" dirty="0">
                <a:effectLst/>
              </a:rPr>
              <a:t>directly under the reaction frame, </a:t>
            </a:r>
            <a:r>
              <a:rPr lang="en-IN" dirty="0" err="1">
                <a:effectLst/>
              </a:rPr>
              <a:t>centered</a:t>
            </a:r>
            <a:r>
              <a:rPr lang="en-IN" dirty="0">
                <a:effectLst/>
              </a:rPr>
              <a:t> on the test pile bearing plate.</a:t>
            </a:r>
          </a:p>
          <a:p>
            <a:pPr lvl="1"/>
            <a:r>
              <a:rPr lang="en-IN" dirty="0">
                <a:effectLst/>
              </a:rPr>
              <a:t>Set up a minimum of </a:t>
            </a:r>
            <a:r>
              <a:rPr lang="en-IN" b="1" dirty="0">
                <a:effectLst/>
              </a:rPr>
              <a:t>four dial gauges</a:t>
            </a:r>
            <a:r>
              <a:rPr lang="en-IN" dirty="0">
                <a:effectLst/>
              </a:rPr>
              <a:t> </a:t>
            </a:r>
            <a:r>
              <a:rPr lang="en-IN" dirty="0" smtClean="0">
                <a:effectLst/>
              </a:rPr>
              <a:t>of 0.01mm sensitivity</a:t>
            </a:r>
            <a:r>
              <a:rPr lang="en-IN" dirty="0">
                <a:effectLst/>
              </a:rPr>
              <a:t>, equally spaced around the pile head.</a:t>
            </a:r>
          </a:p>
          <a:p>
            <a:pPr lvl="1"/>
            <a:r>
              <a:rPr lang="en-IN" dirty="0">
                <a:effectLst/>
              </a:rPr>
              <a:t>Mount the dial gauges on </a:t>
            </a:r>
            <a:r>
              <a:rPr lang="en-IN" b="1" dirty="0">
                <a:effectLst/>
              </a:rPr>
              <a:t>datum bars</a:t>
            </a:r>
            <a:r>
              <a:rPr lang="en-IN" dirty="0">
                <a:effectLst/>
              </a:rPr>
              <a:t> supported on immovable reference points placed at a safe </a:t>
            </a:r>
            <a:r>
              <a:rPr lang="en-IN" dirty="0" smtClean="0">
                <a:effectLst/>
              </a:rPr>
              <a:t>distance.</a:t>
            </a:r>
          </a:p>
          <a:p>
            <a:pPr lvl="0"/>
            <a:r>
              <a:rPr lang="en-IN" b="1" dirty="0" smtClean="0">
                <a:effectLst/>
              </a:rPr>
              <a:t>Reaction Anchor Pre-Loading (Loading the Reaction Crown):</a:t>
            </a:r>
            <a:endParaRPr lang="en-IN" dirty="0" smtClean="0">
              <a:effectLst/>
            </a:endParaRPr>
          </a:p>
          <a:p>
            <a:pPr lvl="1"/>
            <a:r>
              <a:rPr lang="en-IN" dirty="0" smtClean="0">
                <a:effectLst/>
              </a:rPr>
              <a:t>Use </a:t>
            </a:r>
            <a:r>
              <a:rPr lang="en-IN" dirty="0">
                <a:effectLst/>
              </a:rPr>
              <a:t>a stressing jack </a:t>
            </a:r>
            <a:r>
              <a:rPr lang="en-IN" dirty="0" smtClean="0">
                <a:effectLst/>
              </a:rPr>
              <a:t>to </a:t>
            </a:r>
            <a:r>
              <a:rPr lang="en-IN" dirty="0">
                <a:effectLst/>
              </a:rPr>
              <a:t>tension the anchor strands individually against the anchor bearing plates.</a:t>
            </a:r>
          </a:p>
          <a:p>
            <a:pPr lvl="1"/>
            <a:r>
              <a:rPr lang="en-IN" dirty="0">
                <a:effectLst/>
              </a:rPr>
              <a:t>Tension is applied to </a:t>
            </a:r>
            <a:r>
              <a:rPr lang="en-IN" dirty="0" smtClean="0">
                <a:effectLst/>
              </a:rPr>
              <a:t>remove the slack from HT strands.</a:t>
            </a:r>
          </a:p>
          <a:p>
            <a:pPr lvl="1"/>
            <a:r>
              <a:rPr lang="en-IN" dirty="0">
                <a:effectLst/>
              </a:rPr>
              <a:t>The required reaction load is </a:t>
            </a:r>
            <a:r>
              <a:rPr lang="en-IN" b="1" dirty="0">
                <a:effectLst/>
              </a:rPr>
              <a:t>locked-off</a:t>
            </a:r>
            <a:r>
              <a:rPr lang="en-IN" dirty="0">
                <a:effectLst/>
              </a:rPr>
              <a:t> by securing the wedges and lock-off nuts onto the anchor bearing </a:t>
            </a:r>
            <a:r>
              <a:rPr lang="en-IN" dirty="0" smtClean="0">
                <a:effectLst/>
              </a:rPr>
              <a:t>plates.</a:t>
            </a:r>
            <a:endParaRPr lang="en-IN" dirty="0">
              <a:effectLst/>
            </a:endParaRPr>
          </a:p>
          <a:p>
            <a:pPr lvl="0"/>
            <a:r>
              <a:rPr lang="en-IN" b="1" dirty="0" smtClean="0">
                <a:effectLst/>
              </a:rPr>
              <a:t>Final </a:t>
            </a:r>
            <a:r>
              <a:rPr lang="en-IN" b="1" dirty="0">
                <a:effectLst/>
              </a:rPr>
              <a:t>Checks: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Verify all instruments are at zero and certificates (for calibration, concrete strength) are current</a:t>
            </a:r>
            <a:r>
              <a:rPr lang="en-IN" dirty="0" smtClean="0">
                <a:effectLst/>
              </a:rPr>
              <a:t>.</a:t>
            </a:r>
            <a:endParaRPr lang="en-IN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151"/>
            <a:ext cx="2234825" cy="1192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4152" t="5388" r="17374"/>
          <a:stretch/>
        </p:blipFill>
        <p:spPr>
          <a:xfrm>
            <a:off x="9144058" y="1270001"/>
            <a:ext cx="1361441" cy="20421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236" y="3696912"/>
            <a:ext cx="3068321" cy="27343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88712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88351"/>
            <a:ext cx="10353762" cy="970450"/>
          </a:xfrm>
        </p:spPr>
        <p:txBody>
          <a:bodyPr/>
          <a:lstStyle/>
          <a:p>
            <a:r>
              <a:rPr lang="en-US" dirty="0">
                <a:effectLst/>
              </a:rPr>
              <a:t>The Loading Procedure &amp; Reporting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270001"/>
            <a:ext cx="10902285" cy="5587999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effectLst/>
              </a:rPr>
              <a:t>Goal:</a:t>
            </a:r>
            <a:r>
              <a:rPr lang="en-IN" dirty="0">
                <a:effectLst/>
              </a:rPr>
              <a:t> Summarize the execution of the test, following the Maintained Load Method (IS 2911), and the final output.</a:t>
            </a:r>
          </a:p>
          <a:p>
            <a:pPr lvl="0"/>
            <a:r>
              <a:rPr lang="en-IN" b="1" dirty="0">
                <a:effectLst/>
              </a:rPr>
              <a:t>Loading Execution (Maintained Load Method):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Apply the test load incrementally </a:t>
            </a:r>
            <a:r>
              <a:rPr lang="en-IN" dirty="0" smtClean="0">
                <a:effectLst/>
              </a:rPr>
              <a:t>20% of </a:t>
            </a:r>
            <a:r>
              <a:rPr lang="en-IN" dirty="0">
                <a:effectLst/>
              </a:rPr>
              <a:t>the Safe Working </a:t>
            </a:r>
            <a:r>
              <a:rPr lang="en-IN" dirty="0" smtClean="0">
                <a:effectLst/>
              </a:rPr>
              <a:t>Load.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At each increment, record load and displacement readings.</a:t>
            </a:r>
          </a:p>
          <a:p>
            <a:pPr lvl="0"/>
            <a:r>
              <a:rPr lang="en-IN" b="1" dirty="0" smtClean="0">
                <a:effectLst/>
              </a:rPr>
              <a:t>Maximum </a:t>
            </a:r>
            <a:r>
              <a:rPr lang="en-IN" b="1" dirty="0">
                <a:effectLst/>
              </a:rPr>
              <a:t>Load Application:</a:t>
            </a:r>
            <a:endParaRPr lang="en-IN" dirty="0">
              <a:effectLst/>
            </a:endParaRPr>
          </a:p>
          <a:p>
            <a:pPr lvl="1"/>
            <a:r>
              <a:rPr lang="en-IN" dirty="0" smtClean="0">
                <a:effectLst/>
              </a:rPr>
              <a:t>For </a:t>
            </a:r>
            <a:r>
              <a:rPr lang="en-IN" b="1" dirty="0" smtClean="0">
                <a:effectLst/>
              </a:rPr>
              <a:t>Initial Tests</a:t>
            </a:r>
            <a:r>
              <a:rPr lang="en-IN" dirty="0" smtClean="0">
                <a:effectLst/>
              </a:rPr>
              <a:t>, loading continues up to 2.5 times of safe load and </a:t>
            </a:r>
            <a:r>
              <a:rPr lang="en-IN" b="1" dirty="0" smtClean="0">
                <a:effectLst/>
              </a:rPr>
              <a:t>Routine Test </a:t>
            </a:r>
            <a:r>
              <a:rPr lang="en-IN" dirty="0" smtClean="0">
                <a:effectLst/>
              </a:rPr>
              <a:t> </a:t>
            </a:r>
          </a:p>
          <a:p>
            <a:pPr marL="450000" lvl="1" indent="0">
              <a:buNone/>
            </a:pPr>
            <a:r>
              <a:rPr lang="en-IN" dirty="0" smtClean="0">
                <a:effectLst/>
              </a:rPr>
              <a:t>is 1.5 times of safe load or until failure criteria are met.</a:t>
            </a:r>
          </a:p>
          <a:p>
            <a:pPr lvl="1"/>
            <a:r>
              <a:rPr lang="en-IN" dirty="0" smtClean="0">
                <a:effectLst/>
              </a:rPr>
              <a:t>The </a:t>
            </a:r>
            <a:r>
              <a:rPr lang="en-IN" dirty="0">
                <a:effectLst/>
              </a:rPr>
              <a:t>final maximum load is maintained for </a:t>
            </a:r>
            <a:r>
              <a:rPr lang="en-IN" b="1" dirty="0">
                <a:effectLst/>
              </a:rPr>
              <a:t>$24$ hours</a:t>
            </a:r>
            <a:r>
              <a:rPr lang="en-IN" dirty="0">
                <a:effectLst/>
              </a:rPr>
              <a:t>.</a:t>
            </a:r>
          </a:p>
          <a:p>
            <a:pPr lvl="0"/>
            <a:r>
              <a:rPr lang="en-IN" b="1" dirty="0">
                <a:effectLst/>
              </a:rPr>
              <a:t>Unloading &amp; Recovery: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Remove the load in decrements, measuring the recovery (rebound) at each stage.</a:t>
            </a:r>
          </a:p>
          <a:p>
            <a:pPr lvl="1"/>
            <a:r>
              <a:rPr lang="en-IN" dirty="0">
                <a:effectLst/>
              </a:rPr>
              <a:t>Record the final </a:t>
            </a:r>
            <a:r>
              <a:rPr lang="en-IN" b="1" dirty="0">
                <a:effectLst/>
              </a:rPr>
              <a:t>Net Settlement</a:t>
            </a:r>
            <a:r>
              <a:rPr lang="en-IN" dirty="0">
                <a:effectLst/>
              </a:rPr>
              <a:t> after all load is removed.</a:t>
            </a:r>
          </a:p>
          <a:p>
            <a:pPr lvl="0"/>
            <a:r>
              <a:rPr lang="en-IN" b="1" dirty="0">
                <a:effectLst/>
              </a:rPr>
              <a:t>Analysis &amp; Report: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Plot the </a:t>
            </a:r>
            <a:r>
              <a:rPr lang="en-IN" b="1" dirty="0">
                <a:effectLst/>
              </a:rPr>
              <a:t>Load vs. </a:t>
            </a:r>
            <a:r>
              <a:rPr lang="en-IN" b="1" dirty="0" smtClean="0">
                <a:effectLst/>
              </a:rPr>
              <a:t>Settlement</a:t>
            </a:r>
            <a:r>
              <a:rPr lang="en-IN" dirty="0" smtClean="0">
                <a:effectLst/>
              </a:rPr>
              <a:t> </a:t>
            </a:r>
            <a:r>
              <a:rPr lang="en-IN" dirty="0">
                <a:effectLst/>
              </a:rPr>
              <a:t>curves.</a:t>
            </a:r>
          </a:p>
          <a:p>
            <a:pPr lvl="1"/>
            <a:r>
              <a:rPr lang="en-IN" dirty="0">
                <a:effectLst/>
              </a:rPr>
              <a:t>Determine the Ultimate Load Capacity and the </a:t>
            </a:r>
            <a:r>
              <a:rPr lang="en-IN" b="1" dirty="0">
                <a:effectLst/>
              </a:rPr>
              <a:t>Safe Load</a:t>
            </a:r>
            <a:r>
              <a:rPr lang="en-IN" dirty="0">
                <a:effectLst/>
              </a:rPr>
              <a:t> based on the prescribed IS 2911 criteria</a:t>
            </a:r>
            <a:r>
              <a:rPr lang="en-IN" dirty="0" smtClean="0">
                <a:effectLst/>
              </a:rPr>
              <a:t>.</a:t>
            </a:r>
            <a:endParaRPr lang="en-IN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151"/>
            <a:ext cx="2234825" cy="1192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920" y="2178871"/>
            <a:ext cx="2641600" cy="308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390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202</TotalTime>
  <Words>524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Calisto MT</vt:lpstr>
      <vt:lpstr>Trebuchet MS</vt:lpstr>
      <vt:lpstr>Wingdings 2</vt:lpstr>
      <vt:lpstr>Slate</vt:lpstr>
      <vt:lpstr>Vertical Pile Load Test using Reaction Anchors</vt:lpstr>
      <vt:lpstr>Why Vertical Pile Load Test Important?</vt:lpstr>
      <vt:lpstr>Equipment required to conduct VPLT</vt:lpstr>
      <vt:lpstr>Preparation &amp; Initial Setup</vt:lpstr>
      <vt:lpstr>Instrumentation &amp; Anchor Loading</vt:lpstr>
      <vt:lpstr>The Loading Procedure &amp; Reporting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Vertical Pile Load Test using Reaction Anchors</dc:title>
  <dc:creator>admin</dc:creator>
  <cp:lastModifiedBy>admin</cp:lastModifiedBy>
  <cp:revision>13</cp:revision>
  <dcterms:created xsi:type="dcterms:W3CDTF">2025-10-15T08:48:57Z</dcterms:created>
  <dcterms:modified xsi:type="dcterms:W3CDTF">2025-10-17T09:36:35Z</dcterms:modified>
</cp:coreProperties>
</file>